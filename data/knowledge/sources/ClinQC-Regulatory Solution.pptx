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771FE-08FA-EC78-B11C-893F8C7551E9}" v="61" dt="2026-06-26T02:37:43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Thiyagarajan" userId="S::balaji.thiyagarajan@agilisium.com::f54b336b-b995-4cbf-ae12-b14c7501a160" providerId="AD" clId="Web-{46A771FE-08FA-EC78-B11C-893F8C7551E9}"/>
    <pc:docChg chg="modSld">
      <pc:chgData name="Balaji Thiyagarajan" userId="S::balaji.thiyagarajan@agilisium.com::f54b336b-b995-4cbf-ae12-b14c7501a160" providerId="AD" clId="Web-{46A771FE-08FA-EC78-B11C-893F8C7551E9}" dt="2026-06-26T02:37:43.672" v="60" actId="20577"/>
      <pc:docMkLst>
        <pc:docMk/>
      </pc:docMkLst>
      <pc:sldChg chg="modSp">
        <pc:chgData name="Balaji Thiyagarajan" userId="S::balaji.thiyagarajan@agilisium.com::f54b336b-b995-4cbf-ae12-b14c7501a160" providerId="AD" clId="Web-{46A771FE-08FA-EC78-B11C-893F8C7551E9}" dt="2026-06-26T02:37:26.156" v="53" actId="20577"/>
        <pc:sldMkLst>
          <pc:docMk/>
          <pc:sldMk cId="0" sldId="256"/>
        </pc:sldMkLst>
        <pc:spChg chg="mod">
          <ac:chgData name="Balaji Thiyagarajan" userId="S::balaji.thiyagarajan@agilisium.com::f54b336b-b995-4cbf-ae12-b14c7501a160" providerId="AD" clId="Web-{46A771FE-08FA-EC78-B11C-893F8C7551E9}" dt="2026-06-26T02:37:26.156" v="53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Balaji Thiyagarajan" userId="S::balaji.thiyagarajan@agilisium.com::f54b336b-b995-4cbf-ae12-b14c7501a160" providerId="AD" clId="Web-{46A771FE-08FA-EC78-B11C-893F8C7551E9}" dt="2026-06-26T02:37:21.984" v="50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Balaji Thiyagarajan" userId="S::balaji.thiyagarajan@agilisium.com::f54b336b-b995-4cbf-ae12-b14c7501a160" providerId="AD" clId="Web-{46A771FE-08FA-EC78-B11C-893F8C7551E9}" dt="2026-06-26T02:37:43.672" v="60" actId="20577"/>
        <pc:sldMkLst>
          <pc:docMk/>
          <pc:sldMk cId="0" sldId="258"/>
        </pc:sldMkLst>
        <pc:spChg chg="mod">
          <ac:chgData name="Balaji Thiyagarajan" userId="S::balaji.thiyagarajan@agilisium.com::f54b336b-b995-4cbf-ae12-b14c7501a160" providerId="AD" clId="Web-{46A771FE-08FA-EC78-B11C-893F8C7551E9}" dt="2026-06-26T02:37:43.672" v="60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FA40A-E8B1-4B32-8310-902356A26591}" type="datetimeFigureOut"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AAF1C-234E-4BE1-8DC5-CCB04AC736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1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5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3.png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AGILISIUM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Trebuchet MS"/>
              </a:rPr>
              <a:t>Clinical QC Studio </a:t>
            </a:r>
            <a:endParaRPr lang="en-US" sz="480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00C9A7"/>
                </a:solidFill>
                <a:latin typeface="Trebuchet MS"/>
              </a:rPr>
              <a:t>Building Quality </a:t>
            </a:r>
            <a:r>
              <a:rPr lang="en-US" sz="3200">
                <a:solidFill>
                  <a:srgbClr val="00C9A7"/>
                </a:solidFill>
                <a:latin typeface="Trebuchet MS"/>
              </a:rPr>
              <a:t>Intelligence</a:t>
            </a:r>
            <a:r>
              <a:rPr lang="en-US" sz="3200" dirty="0">
                <a:solidFill>
                  <a:srgbClr val="00C9A7"/>
                </a:solidFill>
                <a:latin typeface="Trebuchet MS"/>
              </a:rPr>
              <a:t> 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 + User Instruction Manual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May 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32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432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62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Roles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Requirements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1901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Mock Content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4323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Export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62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9626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Acceptance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493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Instructions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clinical-trial-operations-control-room-conc_2026-05-07T05-11-1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 &amp; Overview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/>
                <a:ea typeface="Calibri"/>
                <a:cs typeface="Calibri"/>
              </a:rPr>
              <a:t>What </a:t>
            </a:r>
            <a:r>
              <a:rPr lang="en-US" sz="1500">
                <a:solidFill>
                  <a:srgbClr val="E8F6F8"/>
                </a:solidFill>
                <a:latin typeface="Calibri"/>
                <a:ea typeface="Calibri"/>
                <a:cs typeface="Calibri"/>
              </a:rPr>
              <a:t>ClinQC</a:t>
            </a:r>
            <a:r>
              <a:rPr lang="en-US" sz="1500" dirty="0">
                <a:solidFill>
                  <a:srgbClr val="E8F6F8"/>
                </a:solidFill>
                <a:latin typeface="Calibri"/>
                <a:ea typeface="Calibri"/>
                <a:cs typeface="Calibri"/>
              </a:rPr>
              <a:t> is and why it exists</a:t>
            </a:r>
            <a:endParaRPr lang="en-US" sz="15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 &amp;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Quality Intelligence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is a production-style clinical quality intelligence web application designed for clinical trial operations teams.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oversight across eTMF, data quality, deviations, inspection readiness, and regulatory intelligence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743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QC Leads, Data Managers, CRAs, Regulatory Affairs, CRO Study Managers, and Administrators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demo-ready enterprise SaaS experience with role-based access and interactive dashboards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620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a customer-facing demo platform showing AI-driven operational intelligence</a:t>
            </a:r>
            <a:endParaRPr lang="en-US" sz="1150" dirty="0"/>
          </a:p>
        </p:txBody>
      </p:sp>
      <p:pic>
        <p:nvPicPr>
          <p:cNvPr id="14" name="Image 4" descr="/agent/turn1/workspace/images/modern-clinical-trial-operations-control-room-conc_2026-05-07T05-11-15_image_DAS_0.jpg"/>
          <p:cNvPicPr>
            <a:picLocks noChangeAspect="1"/>
          </p:cNvPicPr>
          <p:nvPr/>
        </p:nvPicPr>
        <p:blipFill>
          <a:blip r:embed="rId4"/>
          <a:srcRect l="19524" r="19524"/>
          <a:stretch/>
        </p:blipFill>
        <p:spPr>
          <a:xfrm>
            <a:off x="5760720" y="1371600"/>
            <a:ext cx="2926080" cy="32004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Goals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ClinSentinel enables for clinical teams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Risks Earlier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surveillance continuously monitors trial quality signals to flag risks before they escalate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Actions Faster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scoring and recommendations help teams focus effort where it matters most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459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Inspection-Ready Quality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continuous readiness across the study lifecycle with automated compliance tracking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healthcare-quality-network-interconnected_2026-05-07T05-11-15_image_DAS_0.jpg"/>
          <p:cNvPicPr>
            <a:picLocks noChangeAspect="1"/>
          </p:cNvPicPr>
          <p:nvPr/>
        </p:nvPicPr>
        <p:blipFill>
          <a:blip r:embed="rId3"/>
          <a:srcRect t="2753" b="275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Objectives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goals driving the platform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strategic pillars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904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Monitoring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74720" y="14173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trial quality oversight through centralized, cross-functional monitoring of all study operations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7863840" cy="594360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7627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Automation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7472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document classification, query drafting, deviation analysis, and risk intelligence workflows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7432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62072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Readiness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74720" y="2788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continuous inspection readiness and rapid regulatory response capabilities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429000"/>
            <a:ext cx="7863840" cy="594360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478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74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AI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474720" y="3474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transparent AI workflows with traceable audit trails and human oversight at every decision point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3367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60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Demo Platform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474720" y="41605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polished, demo-ready experience suitable for enterprise stakeholder presentations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shield-protecting-clinical-docume_2026-05-07T05-11-07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coverage of the platform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and capabilities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&amp; RBAC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04288" y="137160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95728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Selector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968496" y="137160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5544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59936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632704" y="137160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4" y="15544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24144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eTMF Sentinel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296912" y="137160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9832" y="155448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88352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Watch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40080" y="292608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310896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152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Radar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2304288" y="292608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7208" y="3108960"/>
            <a:ext cx="411480" cy="4114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395728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QC Agent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3968496" y="292608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1416" y="3108960"/>
            <a:ext cx="411480" cy="4114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059936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5632704" y="292608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5624" y="3108960"/>
            <a:ext cx="411480" cy="4114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724144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7296912" y="2926080"/>
            <a:ext cx="1463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9832" y="3108960"/>
            <a:ext cx="411480" cy="41148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388352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Intel</a:t>
            </a:r>
            <a:endParaRPr lang="en-US" sz="1050" dirty="0"/>
          </a:p>
        </p:txBody>
      </p:sp>
      <p:sp>
        <p:nvSpPr>
          <p:cNvPr id="3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 of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for this version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996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backend integrations with EDC, CTMS, or eTMF systems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396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0574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authentication and identity management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65176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7977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69748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synchronization with enterprise sources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329184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33756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PDF or email sending to external systems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3931920"/>
            <a:ext cx="786384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5993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397764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submission workflows requiring validated infrastructure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healthcare-quality-network-interconnected_2026-05-07T05-11-15_image_DAS_0.jpg"/>
          <p:cNvPicPr>
            <a:picLocks noChangeAspect="1"/>
          </p:cNvPicPr>
          <p:nvPr/>
        </p:nvPicPr>
        <p:blipFill>
          <a:blip r:embed="rId3"/>
          <a:srcRect t="2753" b="275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Users &amp; Roles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personas driving the platform experience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Roles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across six personas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 Lead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quality signals, approves AI suggestions, manages inspection readiness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3716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54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Manager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quality anomalies, query workflows, missing data review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544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4652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site-level issues, monitors readiness, tracks document completeness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004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Affairs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6868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jurisdiction changes, regulatory alerts, compliance content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42900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20040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6576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 Study Manager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65760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study health, deviation risks, and site performance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1792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004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44652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access, user settings, AI controls, integrations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Lead &amp; Data Manager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QC Lead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quality signals across study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3288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AI-generated suggestions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1693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inspection readiness scoring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0098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end-to-end study quality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8503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critical findings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Manager</a:t>
            </a:r>
            <a:endParaRPr lang="en-US" sz="1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492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quality anomalies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3288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492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query workflow lifecycle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1693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492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missing data patterns</a:t>
            </a:r>
            <a:endParaRPr lang="en-US" sz="11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0098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3492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data trends across sites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85032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3492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CDISC domain compliance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&amp; Regulatory Affairs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site-level quality issues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3288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site readiness status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1693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document completeness per site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0098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up on deviation resolution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8503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site-level quality reports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Affairs</a:t>
            </a:r>
            <a:endParaRPr lang="en-US" sz="1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492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jurisdiction-specific changes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3288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492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regulatory alerts and updates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1693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492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evidence vault content</a:t>
            </a:r>
            <a:endParaRPr lang="en-US" sz="11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0098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3492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inspection requests/responses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85032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3492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compliance requirements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Study Manager &amp; Admin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 Study Manager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488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overall study health metrics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32888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deviation risk across sites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16936"/>
            <a:ext cx="182880" cy="1828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site performance dashboards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00984"/>
            <a:ext cx="182880" cy="18288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operational team actions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85032"/>
            <a:ext cx="182880" cy="1828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cross-study comparisons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754880" y="13716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54480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48840"/>
            <a:ext cx="182880" cy="18288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349240" y="2103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access and permissions</a:t>
            </a:r>
            <a:endParaRPr lang="en-US" sz="11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3288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34924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role-based settings</a:t>
            </a:r>
            <a:endParaRPr lang="en-US" sz="11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1693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34924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AI behavior parameters</a:t>
            </a:r>
            <a:endParaRPr lang="en-US" sz="11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0098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349240" y="3255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system integrations</a:t>
            </a:r>
            <a:endParaRPr lang="en-US" sz="11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85032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34924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global configuration</a:t>
            </a:r>
            <a:endParaRPr lang="en-US" sz="1100" dirty="0"/>
          </a:p>
        </p:txBody>
      </p:sp>
      <p:sp>
        <p:nvSpPr>
          <p:cNvPr id="31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ai-assistant-concept-for-healthcare-a-lum_2026-05-07T05-11-09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guided operational workflow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Journey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operational workflow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and select role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7190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87452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study-wide risk overview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1188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36118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190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9184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 Down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29184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eTMF, data, deviations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190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0916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70916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recommendations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0"/>
          <p:cNvSpPr/>
          <p:nvPr/>
        </p:nvSpPr>
        <p:spPr>
          <a:xfrm>
            <a:off x="6446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1907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2648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Action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12648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or escalate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863840" y="1554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4"/>
          <p:cNvSpPr/>
          <p:nvPr/>
        </p:nvSpPr>
        <p:spPr>
          <a:xfrm>
            <a:off x="78638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7543800" y="2377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543800" y="27432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and intel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8686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Principle: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868680" y="3977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follows a detect → review → act → document cycle. AI surfaces signals, humans make decisions, and audit trails capture everything.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clinical-trial-operations-control-room-conc_2026-05-07T05-11-1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Requirements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module specifications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6.1  Authentication &amp; Landing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sign-in and role-based access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2704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17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sign-in page with Agilisium identity and ClinSentinel branding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0428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required for demo behavior — determines visible features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9260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8152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971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login redirects to the Dashboard view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37033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5876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749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 displays clear message with return option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6.2  Global App Shell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framework and responsive layout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544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 Sidebar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navigation with module icons and labels, persistent across all pages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54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Header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2286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trail, notification center, study badge, user menu, and theme toggle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92608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089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Switcher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3840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study selector that refreshes all page data when study changes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926080"/>
            <a:ext cx="37490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1089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83480" y="3520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Design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83480" y="38404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desktop experience with adapted mobile layout for field access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 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trends, and AI-powered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eTMF Completeness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04288" y="128016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04288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6AD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04288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68496" y="128016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68496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D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68496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32704" y="128016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32704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32704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128016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96912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96912" y="1874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Actions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7004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Sparklines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300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micro-charts in each KPI card showing 30-day trends</a:t>
            </a:r>
            <a:endParaRPr lang="en-US" sz="10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7004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578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Insights Feed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25780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Severity-tagged alerts with confidence scores, timestamps, and one-click review</a:t>
            </a:r>
            <a:endParaRPr lang="en-US" sz="10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673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430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Heatmap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430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site health matrix with tooltips and drill-down capabilities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76732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578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Feed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2578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Timeline-style operational event stream with real-time updates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6.4  eTMF Sentinel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classification, completeness, and ALCOA+ checks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completeness bars for Zones 1–8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panel for document processing engines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and sortable document table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detail drawer with extracted metadata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601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and ALCOA+ compliance checks</a:t>
            </a:r>
            <a:endParaRPr lang="en-US" sz="11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601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tracking</a:t>
            </a:r>
            <a:endParaRPr lang="en-US" sz="11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6012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 modal with CSV/PDF export</a:t>
            </a:r>
            <a:endParaRPr lang="en-US" sz="11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6012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gap alerts for upcoming deadlines</a:t>
            </a:r>
            <a:endParaRPr lang="en-US" sz="1150" dirty="0"/>
          </a:p>
        </p:txBody>
      </p:sp>
      <p:sp>
        <p:nvSpPr>
          <p:cNvPr id="21" name="Shape 11"/>
          <p:cNvSpPr/>
          <p:nvPr/>
        </p:nvSpPr>
        <p:spPr>
          <a:xfrm>
            <a:off x="5303520" y="1371600"/>
            <a:ext cx="33832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2"/>
          <p:cNvSpPr/>
          <p:nvPr/>
        </p:nvSpPr>
        <p:spPr>
          <a:xfrm>
            <a:off x="548640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Completeness</a:t>
            </a:r>
            <a:endParaRPr lang="en-US" sz="1300" dirty="0"/>
          </a:p>
        </p:txBody>
      </p:sp>
      <p:sp>
        <p:nvSpPr>
          <p:cNvPr id="23" name="Text 13"/>
          <p:cNvSpPr/>
          <p:nvPr/>
        </p:nvSpPr>
        <p:spPr>
          <a:xfrm>
            <a:off x="548640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1: Trial Mgmt</a:t>
            </a:r>
            <a:endParaRPr lang="en-US" sz="850" dirty="0"/>
          </a:p>
        </p:txBody>
      </p:sp>
      <p:sp>
        <p:nvSpPr>
          <p:cNvPr id="24" name="Shape 14"/>
          <p:cNvSpPr/>
          <p:nvPr/>
        </p:nvSpPr>
        <p:spPr>
          <a:xfrm>
            <a:off x="7406640" y="195681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25" name="Shape 15"/>
          <p:cNvSpPr/>
          <p:nvPr/>
        </p:nvSpPr>
        <p:spPr>
          <a:xfrm>
            <a:off x="7406640" y="1956816"/>
            <a:ext cx="1042416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16"/>
          <p:cNvSpPr/>
          <p:nvPr/>
        </p:nvSpPr>
        <p:spPr>
          <a:xfrm>
            <a:off x="5486400" y="2240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2: Central</a:t>
            </a:r>
            <a:endParaRPr lang="en-US" sz="850" dirty="0"/>
          </a:p>
        </p:txBody>
      </p:sp>
      <p:sp>
        <p:nvSpPr>
          <p:cNvPr id="27" name="Shape 17"/>
          <p:cNvSpPr/>
          <p:nvPr/>
        </p:nvSpPr>
        <p:spPr>
          <a:xfrm>
            <a:off x="7406640" y="227685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28" name="Shape 18"/>
          <p:cNvSpPr/>
          <p:nvPr/>
        </p:nvSpPr>
        <p:spPr>
          <a:xfrm>
            <a:off x="7406640" y="2276856"/>
            <a:ext cx="965606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19"/>
          <p:cNvSpPr/>
          <p:nvPr/>
        </p:nvSpPr>
        <p:spPr>
          <a:xfrm>
            <a:off x="54864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3: Regulatory</a:t>
            </a:r>
            <a:endParaRPr lang="en-US" sz="850" dirty="0"/>
          </a:p>
        </p:txBody>
      </p:sp>
      <p:sp>
        <p:nvSpPr>
          <p:cNvPr id="30" name="Shape 20"/>
          <p:cNvSpPr/>
          <p:nvPr/>
        </p:nvSpPr>
        <p:spPr>
          <a:xfrm>
            <a:off x="7406640" y="259689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31" name="Shape 21"/>
          <p:cNvSpPr/>
          <p:nvPr/>
        </p:nvSpPr>
        <p:spPr>
          <a:xfrm>
            <a:off x="7406640" y="2596896"/>
            <a:ext cx="1009498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22"/>
          <p:cNvSpPr/>
          <p:nvPr/>
        </p:nvSpPr>
        <p:spPr>
          <a:xfrm>
            <a:off x="548640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4: IRB/IEC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7406640" y="291693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34" name="Shape 24"/>
          <p:cNvSpPr/>
          <p:nvPr/>
        </p:nvSpPr>
        <p:spPr>
          <a:xfrm>
            <a:off x="7406640" y="2916936"/>
            <a:ext cx="855878" cy="16459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5" name="Text 25"/>
          <p:cNvSpPr/>
          <p:nvPr/>
        </p:nvSpPr>
        <p:spPr>
          <a:xfrm>
            <a:off x="548640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5: Site Mgmt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7406640" y="323697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37" name="Shape 27"/>
          <p:cNvSpPr/>
          <p:nvPr/>
        </p:nvSpPr>
        <p:spPr>
          <a:xfrm>
            <a:off x="7406640" y="3236976"/>
            <a:ext cx="932688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28"/>
          <p:cNvSpPr/>
          <p:nvPr/>
        </p:nvSpPr>
        <p:spPr>
          <a:xfrm>
            <a:off x="548640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6: IP/Lab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7406640" y="355701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40" name="Shape 30"/>
          <p:cNvSpPr/>
          <p:nvPr/>
        </p:nvSpPr>
        <p:spPr>
          <a:xfrm>
            <a:off x="7406640" y="3557016"/>
            <a:ext cx="987552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1" name="Text 31"/>
          <p:cNvSpPr/>
          <p:nvPr/>
        </p:nvSpPr>
        <p:spPr>
          <a:xfrm>
            <a:off x="548640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7: Safety</a:t>
            </a:r>
            <a:endParaRPr lang="en-US" sz="850" dirty="0"/>
          </a:p>
        </p:txBody>
      </p:sp>
      <p:sp>
        <p:nvSpPr>
          <p:cNvPr id="42" name="Shape 32"/>
          <p:cNvSpPr/>
          <p:nvPr/>
        </p:nvSpPr>
        <p:spPr>
          <a:xfrm>
            <a:off x="7406640" y="387705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43" name="Shape 33"/>
          <p:cNvSpPr/>
          <p:nvPr/>
        </p:nvSpPr>
        <p:spPr>
          <a:xfrm>
            <a:off x="7406640" y="3877056"/>
            <a:ext cx="899770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4" name="Text 34"/>
          <p:cNvSpPr/>
          <p:nvPr/>
        </p:nvSpPr>
        <p:spPr>
          <a:xfrm>
            <a:off x="548640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8: Reports</a:t>
            </a:r>
            <a:endParaRPr lang="en-US" sz="850" dirty="0"/>
          </a:p>
        </p:txBody>
      </p:sp>
      <p:sp>
        <p:nvSpPr>
          <p:cNvPr id="45" name="Shape 35"/>
          <p:cNvSpPr/>
          <p:nvPr/>
        </p:nvSpPr>
        <p:spPr>
          <a:xfrm>
            <a:off x="7406640" y="4197096"/>
            <a:ext cx="1097280" cy="164592"/>
          </a:xfrm>
          <a:prstGeom prst="rect">
            <a:avLst/>
          </a:prstGeom>
          <a:solidFill>
            <a:srgbClr val="E8F6F8"/>
          </a:solidFill>
          <a:ln/>
        </p:spPr>
      </p:sp>
      <p:sp>
        <p:nvSpPr>
          <p:cNvPr id="46" name="Shape 36"/>
          <p:cNvSpPr/>
          <p:nvPr/>
        </p:nvSpPr>
        <p:spPr>
          <a:xfrm>
            <a:off x="7406640" y="4197096"/>
            <a:ext cx="768096" cy="16459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7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6.5  Data Watch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detection, query management, and quality monitoring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0817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Anomaly Detection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74720" y="1325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card showing AI-detected anomalies across CDISC domains with edit check results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214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39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Quality Leaderboard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74720" y="20391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site performance with detailed drawer showing charts and risk explanations per site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706624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523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Management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474720" y="275234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feed, query drafting assistance, query aging charts, and lifecycle tracking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419856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478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655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Data Heatmap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474720" y="34655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heatmap of missing data patterns across sites and domains with drill-down capability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33088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6110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78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Cross-Study Patterns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474720" y="41788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pattern detection across multiple studies identifying systemic quality issues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6.6  Deviation Radar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root-cause analysis, and CAPA intelligence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Alerts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7190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banner highlighting upcoming deviation risks before they materialize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146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Deviation Log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2816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with regulatory references, reportability flags, and severity classification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118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Root-Cause Analysis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97280" y="39136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 in detail drawer with contributing factor identification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173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0352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Suggestions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303520" y="17190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corrective and preventive action recommendations per deviation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51460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Detection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303520" y="2816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cards grouping related deviations for systemic issue identification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61188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352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Analysis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5303520" y="39136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deviation charts, severity breakdowns, and reporting lag visualization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6.7  AI QC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review, decision audit, and clinical chat</a:t>
            </a:r>
            <a:endParaRPr lang="en-US" sz="1200" dirty="0"/>
          </a:p>
        </p:txBody>
      </p:sp>
      <p:pic>
        <p:nvPicPr>
          <p:cNvPr id="5" name="Image 0" descr="/agent/turn1/workspace/images/abstract-ai-assistant-concept-for-healthcare-a-lum_2026-05-07T05-11-09_image_DAS_0.jpg"/>
          <p:cNvPicPr>
            <a:picLocks noChangeAspect="1"/>
          </p:cNvPicPr>
          <p:nvPr/>
        </p:nvPicPr>
        <p:blipFill>
          <a:blip r:embed="rId3"/>
          <a:srcRect l="16667" r="16667"/>
          <a:stretch/>
        </p:blipFill>
        <p:spPr>
          <a:xfrm>
            <a:off x="640080" y="1280160"/>
            <a:ext cx="3200400" cy="3200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35331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Status Dashboard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0" y="1572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AI agent health, throughput, and decision volume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01168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0" y="1938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Queue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0" y="2231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for AI decisions that require human approval before execution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67004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0" y="2596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Audit Trail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0" y="2889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log of all AI decisions with reasoning, confidence, and outcome tracking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32841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2000" y="3255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Configuration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572000" y="3547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thresholds, model parameters, and automation rules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3986784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572000" y="3913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Chat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57200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with preloaded prompts and context-aware response generation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6.8  Inspection Readiness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tracking, simulation, and action planning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2011680" cy="2011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691640"/>
            <a:ext cx="1554480" cy="1554480"/>
          </a:xfrm>
          <a:prstGeom prst="ellipse">
            <a:avLst/>
          </a:prstGeom>
          <a:solidFill>
            <a:srgbClr val="F4F9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4447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6616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Breakdown Table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56616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scoring across categories with weighted components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4475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Inspection Simulator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46520" y="1691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inspection scenarios with AI-generated findings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49631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56616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remediation tasks with ownership and deadlines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4963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4652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Trend Chart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44652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readiness score progression over time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54787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&amp; Scheduling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56616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generation, CSV export, and scheduled assessments</a:t>
            </a:r>
            <a:endParaRPr lang="en-US" sz="10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54787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Checklist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6446520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readiness checklist with completion status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6.9  Settings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compliance, and system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0817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Management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0" y="1325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study parameters, milestones, timelines, and study-specific quality thresholds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214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39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&amp; Role Management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657600" y="2039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 assignments, permission matrices, and access control configuration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706624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523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Compliance Settings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657600" y="27523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thresholds, auto-execution rules, human review triggers, and model behavior controls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419856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478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65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Placeholders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657600" y="34655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points for EDC, CTMS, and eTMF systems with configuration status indicators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33088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6110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78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657600" y="41788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system event log with filtering, search, and export capabilities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shield-protecting-clinical-docume_2026-05-07T05-11-07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06.10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Intelligence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compliance and inspection response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Intelligence — Core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Watchlists, impact analysis, and evidence management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Watchlists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45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jurisdiction-specific regulatory changes with automated alerts and impact assessment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963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Impact Analysis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 of regulatory changes and their effect on study protocols and operations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3931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Timeline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97280" y="3931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view of regulatory milestones, submission deadlines, and compliance events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35331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Vault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212080" y="1645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repository for compliance evidence, audit documentation, and regulatory filings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49631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Response Center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212080" y="27889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workspace for managing inspection findings, responses, and remediation plans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Intelligence — Advanced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scoring, knowledge graph, and executive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Risk Scoring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regulatory risk predictions based on historical patterns, jurisdiction changes, and study characteristics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459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 View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relationship mapping between regulations, studies, sites, and compliance requirements for holistic understanding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137160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6459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Insights Dashboard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2880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regulatory intelligence summary for leadership with KPIs, trend analysis, and strategic risk indicators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  |  Section 6: Functional Requirements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clinical-trial-operations-control-room-conc_2026-05-07T05-11-1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Requirements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 and interaction patterns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 Design Language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SaaS visual identity and interaction standards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Language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737360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clinical SaaS aesthetic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57400"/>
            <a:ext cx="164592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Agilisium blue, green, and white brand palette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badges, cards, and buttons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97480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excessive decorative clutter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972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&amp; States</a:t>
            </a:r>
            <a:endParaRPr lang="en-US" sz="14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566160"/>
            <a:ext cx="164592" cy="16459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37160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loaders for all loading states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886200"/>
            <a:ext cx="164592" cy="16459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37160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 with guidance and CTAs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06240"/>
            <a:ext cx="164592" cy="16459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37160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page transitions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26280"/>
            <a:ext cx="164592" cy="16459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371600" y="4480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Slide-over drawer animations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325880"/>
            <a:ext cx="320040" cy="32004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21208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Accessibility</a:t>
            </a:r>
            <a:endParaRPr lang="en-US" sz="14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164592" cy="16459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48640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Keyboard-accessible interactions</a:t>
            </a:r>
            <a:endParaRPr lang="en-US" sz="11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057400"/>
            <a:ext cx="164592" cy="164592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548640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on every meaningful control</a:t>
            </a:r>
            <a:endParaRPr lang="en-US" sz="1100" dirty="0"/>
          </a:p>
        </p:txBody>
      </p:sp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377440"/>
            <a:ext cx="164592" cy="16459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548640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focus indicators</a:t>
            </a:r>
            <a:endParaRPr lang="en-US" sz="1100" dirty="0"/>
          </a:p>
        </p:txBody>
      </p:sp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697480"/>
            <a:ext cx="164592" cy="164592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548640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 compatible labels</a:t>
            </a:r>
            <a:endParaRPr lang="en-US" sz="1100" dirty="0"/>
          </a:p>
        </p:txBody>
      </p:sp>
      <p:pic>
        <p:nvPicPr>
          <p:cNvPr id="35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154680"/>
            <a:ext cx="320040" cy="320040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52120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</a:t>
            </a:r>
            <a:endParaRPr lang="en-US" sz="1400" dirty="0"/>
          </a:p>
        </p:txBody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566160"/>
            <a:ext cx="164592" cy="164592"/>
          </a:xfrm>
          <a:prstGeom prst="rect">
            <a:avLst/>
          </a:prstGeom>
        </p:spPr>
      </p:pic>
      <p:sp>
        <p:nvSpPr>
          <p:cNvPr id="38" name="Text 19"/>
          <p:cNvSpPr/>
          <p:nvPr/>
        </p:nvSpPr>
        <p:spPr>
          <a:xfrm>
            <a:off x="548640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desktop and mobile behavior</a:t>
            </a:r>
            <a:endParaRPr lang="en-US" sz="1100" dirty="0"/>
          </a:p>
        </p:txBody>
      </p:sp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886200"/>
            <a:ext cx="164592" cy="164592"/>
          </a:xfrm>
          <a:prstGeom prst="rect">
            <a:avLst/>
          </a:prstGeom>
        </p:spPr>
      </p:pic>
      <p:sp>
        <p:nvSpPr>
          <p:cNvPr id="40" name="Text 20"/>
          <p:cNvSpPr/>
          <p:nvPr/>
        </p:nvSpPr>
        <p:spPr>
          <a:xfrm>
            <a:off x="548640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spacing and grid system</a:t>
            </a:r>
            <a:endParaRPr lang="en-US" sz="1100" dirty="0"/>
          </a:p>
        </p:txBody>
      </p:sp>
      <p:pic>
        <p:nvPicPr>
          <p:cNvPr id="41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206240"/>
            <a:ext cx="164592" cy="164592"/>
          </a:xfrm>
          <a:prstGeom prst="rect">
            <a:avLst/>
          </a:prstGeom>
        </p:spPr>
      </p:pic>
      <p:sp>
        <p:nvSpPr>
          <p:cNvPr id="42" name="Text 21"/>
          <p:cNvSpPr/>
          <p:nvPr/>
        </p:nvSpPr>
        <p:spPr>
          <a:xfrm>
            <a:off x="548640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information architecture</a:t>
            </a:r>
            <a:endParaRPr lang="en-US" sz="1100" dirty="0"/>
          </a:p>
        </p:txBody>
      </p:sp>
      <p:pic>
        <p:nvPicPr>
          <p:cNvPr id="4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4526280"/>
            <a:ext cx="164592" cy="164592"/>
          </a:xfrm>
          <a:prstGeom prst="rect">
            <a:avLst/>
          </a:prstGeom>
        </p:spPr>
      </p:pic>
      <p:sp>
        <p:nvSpPr>
          <p:cNvPr id="44" name="Text 22"/>
          <p:cNvSpPr/>
          <p:nvPr/>
        </p:nvSpPr>
        <p:spPr>
          <a:xfrm>
            <a:off x="5486400" y="4480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of complexity</a:t>
            </a:r>
            <a:endParaRPr lang="en-US" sz="1100" dirty="0"/>
          </a:p>
        </p:txBody>
      </p:sp>
      <p:sp>
        <p:nvSpPr>
          <p:cNvPr id="4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healthcare-quality-network-interconnected_2026-05-07T05-11-15_image_DAS_0.jpg"/>
          <p:cNvPicPr>
            <a:picLocks noChangeAspect="1"/>
          </p:cNvPicPr>
          <p:nvPr/>
        </p:nvPicPr>
        <p:blipFill>
          <a:blip r:embed="rId3"/>
          <a:srcRect t="2753" b="275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Mock Content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 strategy for demo fidelity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Data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study datasets with realistic clinical content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560320" cy="7315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ONCO-301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25603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CARD-112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NEURO-045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3172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22860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sites with varied quality scores and risk levels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0120" y="26517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eTMF documents across all eight TMF zones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0175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aged queries with different resolution states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2900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33832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across categories and severity levels</a:t>
            </a:r>
            <a:endParaRPr lang="en-US" sz="12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7490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anomalies with CDISC domains and edit checks</a:t>
            </a:r>
            <a:endParaRPr lang="en-US" sz="12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0120" y="41148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predictions and inspection readiness results</a:t>
            </a:r>
            <a:endParaRPr lang="en-US" sz="12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2628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60120" y="44805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updates, evidence items, and inspection cases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shield-protecting-clinical-docume_2026-05-07T05-11-07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Export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and report generation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Export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output capabilities across all modules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0817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Table Export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566160" y="1325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tables support one-click CSV download with filtered data preservation and column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214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 PDF Export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66160" y="2039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PDF generation sequences demonstrating report compilation with progress indicators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706624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523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Study-Level Reports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566160" y="27523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study performance views combining quality metrics, trends, and recommendations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419856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478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655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Reports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566160" y="3465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 reports with score breakdowns, gap analysis, and remediation timelines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33088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6110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788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Summaries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566160" y="4178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Jurisdiction-specific compliance reports with evidence references and change impact analysis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ai-assistant-concept-for-healthcare-a-lum_2026-05-07T05-11-09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Rules &amp; Acceptance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logic and success criteria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logic governing platform behavior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0817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749040" y="1325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 determine visible pages, available actions, and data scope per user role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214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391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Context Refresh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749040" y="20391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studies triggers a complete data refresh across all pages and modules globally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706624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523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Auto-Execution Threshold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749040" y="27523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below the configured confidence threshold are routed to human review queue automatically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419856"/>
            <a:ext cx="7863840" cy="603504"/>
          </a:xfrm>
          <a:prstGeom prst="rect">
            <a:avLst/>
          </a:prstGeom>
          <a:solidFill>
            <a:srgbClr val="F7FBF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54787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4655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Confidence-Based Routing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749040" y="34655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values determine whether AI actions are auto-executed or held for human review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33088"/>
            <a:ext cx="786384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261104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178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Comprehensive Audit Trail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74904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decision, user action, and system event is logged with timestamps and user attribution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success standards for delivery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08176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075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navigate every module without errors or broken navigation paths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223760" y="1389888"/>
            <a:ext cx="914400" cy="2743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0253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90195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displays realistic mock data with helpful contextual tooltips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223760" y="1984248"/>
            <a:ext cx="9144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0" y="1984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96896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249631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actions can be reviewed, approved, edited, or escalated by authorized roles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223760" y="2578608"/>
            <a:ext cx="914400" cy="2743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9" name="Text 14"/>
          <p:cNvSpPr/>
          <p:nvPr/>
        </p:nvSpPr>
        <p:spPr>
          <a:xfrm>
            <a:off x="722376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306324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9125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09067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presents professionally in live demo mode with smooth transitions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223760" y="3172968"/>
            <a:ext cx="9144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18"/>
          <p:cNvSpPr/>
          <p:nvPr/>
        </p:nvSpPr>
        <p:spPr>
          <a:xfrm>
            <a:off x="7223760" y="3172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40080" y="365760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85616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368503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main clinical quality workflows are represented clearly and completely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223760" y="3767328"/>
            <a:ext cx="91440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2"/>
          <p:cNvSpPr/>
          <p:nvPr/>
        </p:nvSpPr>
        <p:spPr>
          <a:xfrm>
            <a:off x="722376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79976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8720" y="427939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correctly restricts visibility and actions per user persona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7223760" y="4361688"/>
            <a:ext cx="914400" cy="27432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4" name="Text 26"/>
          <p:cNvSpPr/>
          <p:nvPr/>
        </p:nvSpPr>
        <p:spPr>
          <a:xfrm>
            <a:off x="7223760" y="4361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odern-clinical-trial-operations-control-room-conc_2026-05-07T05-11-15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Instructions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operational guidance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Instructions — Login &amp; Navigation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ClinSentinel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 address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48716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25880" y="2459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password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29626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25880" y="2935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assigned role from the dropdown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343814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25880" y="3410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Sign In button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391363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91440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3258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redirected to the Dashboard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1280160"/>
            <a:ext cx="37490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Switching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5029200" y="20116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40680" y="19842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study selector in the sidebar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0" y="2487168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440680" y="24597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open the study dropdown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29200" y="296265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29"/>
          <p:cNvSpPr/>
          <p:nvPr/>
        </p:nvSpPr>
        <p:spPr>
          <a:xfrm>
            <a:off x="502920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440680" y="29352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target study (ONCO-301, CARD-112, or NEURO-045)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029200" y="343814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2"/>
          <p:cNvSpPr/>
          <p:nvPr/>
        </p:nvSpPr>
        <p:spPr>
          <a:xfrm>
            <a:off x="502920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440680" y="3410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refresh skeleton to complete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029200" y="391363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5"/>
          <p:cNvSpPr/>
          <p:nvPr/>
        </p:nvSpPr>
        <p:spPr>
          <a:xfrm>
            <a:off x="502920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44068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now reflect the selected study data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Viewing Quality Signals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Module-by-module navigation guide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35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80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383280" y="1280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study health and risk overview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9222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737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eTMF Sentinel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383280" y="1737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completeness and ALCOA+ compliance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494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194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Watch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383280" y="21945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and query management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066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Deviation Radar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383280" y="2651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tracking and root-cause analysis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16382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108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QC Agent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3383280" y="3108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review and clinical chat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62102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51560" y="3566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Readiness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3383280" y="35661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scoring and simulation</a:t>
            </a:r>
            <a:endParaRPr lang="en-US" sz="11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078224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5156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Intelligence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3383280" y="40233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and impact analysis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18"/>
          <p:cNvSpPr/>
          <p:nvPr/>
        </p:nvSpPr>
        <p:spPr>
          <a:xfrm>
            <a:off x="868680" y="4526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AI Actions:  Open drawer or queue → Read AI reasoning → Approve, edit, dismiss, or escalate</a:t>
            </a:r>
            <a:endParaRPr lang="en-US" sz="1150" dirty="0"/>
          </a:p>
        </p:txBody>
      </p:sp>
      <p:sp>
        <p:nvSpPr>
          <p:cNvPr id="28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ai-assistant-concept-for-healthcare-a-lum_2026-05-07T05-11-09_image_DAS_0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3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Notes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considerations for live presentations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for Demo Use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context for presenters and stakeholders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8132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Demo-Rich &amp; Interactive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6459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intentionally built with high interactivity, smooth transitions, and polished visual details to create maximum impact during enterprise customer presentations.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5000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212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Representative Data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71600" y="25146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realistic mock content designed to demonstrate the platform's capabilities. It is not connected to a live regulated backend or real patient data.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1868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Impression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71600" y="3383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and feature set are specifically crafted to show how AI-powered operational intelligence can transform clinical trial quality management for enterprise customers.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08736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Validated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71600" y="42519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demo platform and does not include validated infrastructure required for regulated submission workflows. Production deployment would require full validation.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ClinSentinel / ClinQC Studio  |  BRD v1.0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AGILISIUM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ClinSentinel / ClinQC Studio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clinical quality oversight through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intelligence and human-in-the-loop workflows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Datasets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v1.0  |  May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154a3e-1879-4bac-b34e-d2b9f67d89e2" xsi:nil="true"/>
    <lcf76f155ced4ddcb4097134ff3c332f xmlns="6b411c5f-cbc9-402e-b38a-9774a48f054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6B76FD4678C04FAC50115A8183951D" ma:contentTypeVersion="12" ma:contentTypeDescription="Create a new document." ma:contentTypeScope="" ma:versionID="57b519ac4190517e8d051d1755b8d496">
  <xsd:schema xmlns:xsd="http://www.w3.org/2001/XMLSchema" xmlns:xs="http://www.w3.org/2001/XMLSchema" xmlns:p="http://schemas.microsoft.com/office/2006/metadata/properties" xmlns:ns2="6b411c5f-cbc9-402e-b38a-9774a48f0549" xmlns:ns3="34154a3e-1879-4bac-b34e-d2b9f67d89e2" targetNamespace="http://schemas.microsoft.com/office/2006/metadata/properties" ma:root="true" ma:fieldsID="42feee4a5085be1a3d65a602c5216bb1" ns2:_="" ns3:_="">
    <xsd:import namespace="6b411c5f-cbc9-402e-b38a-9774a48f0549"/>
    <xsd:import namespace="34154a3e-1879-4bac-b34e-d2b9f67d89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11c5f-cbc9-402e-b38a-9774a48f05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1fd787b-5a09-46a2-b4bf-a051afe320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54a3e-1879-4bac-b34e-d2b9f67d89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2d91501-0065-48da-8f97-8492a3ee062e}" ma:internalName="TaxCatchAll" ma:showField="CatchAllData" ma:web="34154a3e-1879-4bac-b34e-d2b9f67d89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10978C-22A7-4AD7-91CA-640B2223FA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D1D4A5-753A-43A4-9CEB-A6EE6B294681}">
  <ds:schemaRefs>
    <ds:schemaRef ds:uri="http://schemas.microsoft.com/office/2006/metadata/properties"/>
    <ds:schemaRef ds:uri="http://schemas.microsoft.com/office/infopath/2007/PartnerControls"/>
    <ds:schemaRef ds:uri="34154a3e-1879-4bac-b34e-d2b9f67d89e2"/>
    <ds:schemaRef ds:uri="6b411c5f-cbc9-402e-b38a-9774a48f0549"/>
  </ds:schemaRefs>
</ds:datastoreItem>
</file>

<file path=customXml/itemProps3.xml><?xml version="1.0" encoding="utf-8"?>
<ds:datastoreItem xmlns:ds="http://schemas.openxmlformats.org/officeDocument/2006/customXml" ds:itemID="{342B8976-16F7-49D9-91F8-427FDA0164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411c5f-cbc9-402e-b38a-9774a48f0549"/>
    <ds:schemaRef ds:uri="34154a3e-1879-4bac-b34e-d2b9f67d89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2026-05-06T13:00:23Z</dcterms:created>
  <dcterms:modified xsi:type="dcterms:W3CDTF">2026-06-26T02:37:52Z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0x010100C46B76FD4678C04FAC50115A8183951D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</Properties>
</file>